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164592"/>
            <a:ext cx="50292" cy="649224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3A3A"/>
                </a:solidFill>
              </a:rPr>
              <a:t>現状分析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営業は「売上を作っている」のか？　データで検証した。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77824"/>
            <a:ext cx="11430000" cy="27432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80" y="164592"/>
            <a:ext cx="178308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8288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7799"/>
                </a:solidFill>
              </a:rPr>
              <a:t>出典：Salesforce活動ログ分析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987552"/>
            <a:ext cx="9445752" cy="1115568"/>
          </a:xfrm>
          <a:prstGeom prst="rect">
            <a:avLst/>
          </a:prstGeom>
          <a:solidFill>
            <a:srgbClr val="2A0808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033271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CC"/>
                </a:solidFill>
              </a:rPr>
              <a:t>「営業が売上を作っているのか」を確かめに行ったら、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71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3A3A"/>
                </a:solidFill>
              </a:rPr>
              <a:t>「営業は、売上を処理していた」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344168"/>
            <a:ext cx="7068312" cy="27432"/>
          </a:xfrm>
          <a:prstGeom prst="rect">
            <a:avLst/>
          </a:prstGeom>
          <a:solidFill>
            <a:srgbClr val="66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3474720" cy="2633472"/>
          </a:xfrm>
          <a:prstGeom prst="rect">
            <a:avLst/>
          </a:prstGeom>
          <a:solidFill>
            <a:srgbClr val="282845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12848"/>
            <a:ext cx="3474720" cy="310896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49424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</a:rPr>
              <a:t>① 初回活動の実態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96896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多くの初回活動が「Re:メール」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＝ 問い合わせへの返信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▶  問い合わせが先にあり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　  営業はそれに対応している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17136"/>
            <a:ext cx="3474720" cy="329184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17136"/>
            <a:ext cx="36576" cy="32918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5371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営業起点ではなく受動対応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2212848"/>
            <a:ext cx="3474720" cy="2633472"/>
          </a:xfrm>
          <a:prstGeom prst="rect">
            <a:avLst/>
          </a:prstGeom>
          <a:solidFill>
            <a:srgbClr val="282845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87952" y="2212848"/>
            <a:ext cx="3474720" cy="310896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249424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</a:rPr>
              <a:t>② 営業手法の分布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2596896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活動の大半がメール対応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電話（コール）は極めて少ない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▶  アウトバウンド営業は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　  ほぼ行われていない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4517136"/>
            <a:ext cx="3474720" cy="329184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4517136"/>
            <a:ext cx="36576" cy="32918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55371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能動的な案件創出が弱い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8704" y="2212848"/>
            <a:ext cx="3474720" cy="2633472"/>
          </a:xfrm>
          <a:prstGeom prst="rect">
            <a:avLst/>
          </a:prstGeom>
          <a:solidFill>
            <a:srgbClr val="282845"/>
          </a:solidFill>
          <a:ln w="9525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18704" y="2212848"/>
            <a:ext cx="3474720" cy="310896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2249424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</a:rPr>
              <a:t>③ 売上の発生源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2596896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活動ログなし（#N/A）の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受注が一定数存在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▶  Web自然流入・紹介経由の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BBBCC"/>
                </a:solidFill>
              </a:rPr>
              <a:t>　  案件が相当数を占める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18704" y="4517136"/>
            <a:ext cx="3474720" cy="329184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18704" y="4517136"/>
            <a:ext cx="36576" cy="32918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553712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営業が直接創出した売上は不明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74336"/>
            <a:ext cx="11430000" cy="914400"/>
          </a:xfrm>
          <a:prstGeom prst="rect">
            <a:avLst/>
          </a:prstGeom>
          <a:solidFill>
            <a:srgbClr val="18182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02920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77799"/>
                </a:solidFill>
              </a:rPr>
              <a:t>営業の役割：想定 vs 実態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</a:rPr>
              <a:t>想定（あるべき姿）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50840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3A3A"/>
                </a:solidFill>
              </a:rPr>
              <a:t>実態（現実）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303520"/>
            <a:ext cx="1417320" cy="365760"/>
          </a:xfrm>
          <a:prstGeom prst="rect">
            <a:avLst/>
          </a:prstGeom>
          <a:solidFill>
            <a:srgbClr val="22442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営業アプローチ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1" y="535838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8840" y="5303520"/>
            <a:ext cx="1417320" cy="365760"/>
          </a:xfrm>
          <a:prstGeom prst="rect">
            <a:avLst/>
          </a:prstGeom>
          <a:solidFill>
            <a:srgbClr val="22442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560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案件創出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5304" y="535838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30752" y="5303520"/>
            <a:ext cx="1417320" cy="365760"/>
          </a:xfrm>
          <a:prstGeom prst="rect">
            <a:avLst/>
          </a:prstGeom>
          <a:solidFill>
            <a:srgbClr val="22442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6472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受注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13248" y="5303520"/>
            <a:ext cx="1417320" cy="365760"/>
          </a:xfrm>
          <a:prstGeom prst="rect">
            <a:avLst/>
          </a:prstGeom>
          <a:solidFill>
            <a:srgbClr val="282840"/>
          </a:solidFill>
          <a:ln w="15240">
            <a:solidFill>
              <a:srgbClr val="77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58968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77799"/>
                </a:solidFill>
              </a:rPr>
              <a:t>問い合わせ発生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35838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77799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5303520"/>
            <a:ext cx="1417320" cy="365760"/>
          </a:xfrm>
          <a:prstGeom prst="rect">
            <a:avLst/>
          </a:prstGeom>
          <a:solidFill>
            <a:srgbClr val="332818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営業が対応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535838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77072" y="5303520"/>
            <a:ext cx="1417320" cy="365760"/>
          </a:xfrm>
          <a:prstGeom prst="rect">
            <a:avLst/>
          </a:prstGeom>
          <a:solidFill>
            <a:srgbClr val="332818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22792" y="53583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受注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4608" y="5303520"/>
            <a:ext cx="502920" cy="36576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4608" y="53492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5989320"/>
            <a:ext cx="12188952" cy="36576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053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</a:rPr>
              <a:t>【示唆】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25880" y="605332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現状の営業組織は「案件創出装置」ではなく「案件処理装置」として機能している。　再現性ある売上拡大のためには、営業の役割を「対応」から「創出」へ再定義し、起点データの記録・KPIの再設計・アカウント営業への転換が不可欠だ。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