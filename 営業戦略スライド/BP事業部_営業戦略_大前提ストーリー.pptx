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65760"/>
            <a:ext cx="54864" cy="6126480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47472"/>
            <a:ext cx="822960" cy="347472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01 /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毎月リセット。この営業、いつまで続けられるか。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1247120" cy="36576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CCCCDD"/>
                </a:solidFill>
              </a:rPr>
              <a:t>正直に言う。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CCCCDD"/>
                </a:solidFill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CCCCDD"/>
                </a:solidFill>
              </a:rPr>
              <a:t>今のBP事業部の売上は、「たまたま」で成り立っている。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CCCCDD"/>
                </a:solidFill>
              </a:rPr>
              <a:t>大型案件が取れた月は達成。取れなかった月は未達。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CCCCDD"/>
                </a:solidFill>
              </a:rPr>
              <a:t>翌月の見込みは、月が変わるまでわからない。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CCCCDD"/>
                </a:solidFill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CCCCDD"/>
                </a:solidFill>
              </a:rPr>
              <a:t>これは「営業している」のではなく、「注文を待っている」だ。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0048" y="226771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5A623"/>
                </a:solidFill>
              </a:rPr>
              <a:t>「注文を待っている」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429000"/>
            <a:ext cx="1572768" cy="105156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493008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月次目標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30752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3,000万円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85415" y="3429000"/>
            <a:ext cx="1572768" cy="105156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76856" y="3493008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現状見込み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3730752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800〜900万円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67911" y="3429000"/>
            <a:ext cx="1572768" cy="1051560"/>
          </a:xfrm>
          <a:prstGeom prst="rect">
            <a:avLst/>
          </a:prstGeom>
          <a:solidFill>
            <a:srgbClr val="3A1818"/>
          </a:solidFill>
          <a:ln w="19050">
            <a:solidFill>
              <a:srgbClr val="E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59351" y="3493008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毎月の祈り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9351" y="3730752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3A3A"/>
                </a:solidFill>
              </a:rPr>
              <a:t>▲2,000万円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9351" y="416052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CCDD"/>
                </a:solidFill>
              </a:rPr>
              <a:t>どこからか来ることを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1508760"/>
            <a:ext cx="27432" cy="438912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50876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もっと深刻な事実がある。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874519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DD"/>
                </a:solidFill>
              </a:rPr>
              <a:t>直近1年でアクティブな取引先は約 290社。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DD"/>
                </a:solidFill>
              </a:rPr>
              <a:t>過去10年、数百社の法人と関係を築いてきた。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DD"/>
                </a:solidFill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DD"/>
                </a:solidFill>
              </a:rPr>
              <a:t>なのに——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907792"/>
            <a:ext cx="5669280" cy="329184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2944368"/>
            <a:ext cx="5532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▶  その会社が年間いくら発注しているか、把握できているか？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291840"/>
            <a:ext cx="5669280" cy="329184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3328416"/>
            <a:ext cx="5532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▶  他の部署に発注担当者がいないか、確認したことがあるか？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675888"/>
            <a:ext cx="5669280" cy="329184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1072" y="3712464"/>
            <a:ext cx="5532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▶  なぜ先月より注文が減ったのか、直接聞いたことがあるか？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15137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3A3A"/>
                </a:solidFill>
              </a:rPr>
              <a:t>ほとんど、できていない。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190488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このままでは売上は上がらない。チームも守れない。営業チーム維持には月5,000万円規模の売上が必要だ。今のやり方で、それが実現できるか——答えは全員わかっているはずだ。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65760"/>
            <a:ext cx="54864" cy="6126480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47472"/>
            <a:ext cx="822960" cy="347472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02 /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「注文を待つ営業」を終わりにする。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1247120" cy="36576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A623"/>
                </a:solidFill>
              </a:rPr>
              <a:t>新しい戦略は一言で言える。既存顧客を、会社ごと握る。 ——これが「アカウント営業」だ。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CCDD"/>
                </a:solidFill>
              </a:rPr>
              <a:t>何が変わるのか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2514600" cy="365760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3172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これまで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0128" y="2286000"/>
            <a:ext cx="2514600" cy="365760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233172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これから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651760"/>
            <a:ext cx="2514600" cy="3657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697479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担当者一人から注文をもらう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3A3A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0128" y="2651760"/>
            <a:ext cx="2514600" cy="3657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01568" y="2697479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会社全体の発注を継続的に取り続ける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017520"/>
            <a:ext cx="2514600" cy="365760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063239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単発スポットを積み上げる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06323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3A3A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0128" y="3017520"/>
            <a:ext cx="2514600" cy="365760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01568" y="3063239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ストック型の安定売上を構築する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383280"/>
            <a:ext cx="2514600" cy="3657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4290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注文が来るのを待つ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35808" y="3429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3A3A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10128" y="3383280"/>
            <a:ext cx="2514600" cy="3657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01568" y="34290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ニーズを掘り起こし、提案しにいく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749039"/>
            <a:ext cx="2514600" cy="365760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794759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案件単位で管理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35808" y="379475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3A3A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749039"/>
            <a:ext cx="2514600" cy="365760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3794759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企業単位のアカウントで管理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60" y="1965960"/>
            <a:ext cx="27432" cy="393192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36208" y="196596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CCDD"/>
                </a:solidFill>
              </a:rPr>
              <a:t>顧客タイプ別のアプローチ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36208" y="2331720"/>
            <a:ext cx="5577840" cy="1600200"/>
          </a:xfrm>
          <a:prstGeom prst="rect">
            <a:avLst/>
          </a:prstGeom>
          <a:solidFill>
            <a:srgbClr val="2A2A45"/>
          </a:solidFill>
          <a:ln w="19050">
            <a:solidFill>
              <a:srgbClr val="E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36208" y="2331720"/>
            <a:ext cx="1005840" cy="274320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6208" y="23317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集中型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96912" y="235000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特定の担当者1人に発注が集中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27648" y="2642615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83A3A"/>
                </a:solidFill>
              </a:rPr>
              <a:t>目指すゴール：年間発注を握るパートナー化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7648" y="2898648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CCCCDD"/>
                </a:solidFill>
              </a:rPr>
              <a:t>・年間見積を提示し、定例会を設定する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CCCCDD"/>
                </a:solidFill>
              </a:rPr>
              <a:t>・付加価値提供で競合を排除する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CCCCDD"/>
                </a:solidFill>
              </a:rPr>
              <a:t>・キーパーソンとの関係を組織単位に広げる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6208" y="4087368"/>
            <a:ext cx="5577840" cy="1600200"/>
          </a:xfrm>
          <a:prstGeom prst="rect">
            <a:avLst/>
          </a:prstGeom>
          <a:solidFill>
            <a:srgbClr val="2A2A45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6208" y="4087368"/>
            <a:ext cx="1005840" cy="274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36208" y="40873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分散型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96912" y="4105655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社内の多くの社員がバラバラに発注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7648" y="439826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A623"/>
                </a:solidFill>
              </a:rPr>
              <a:t>目指すゴール：社内インフラ化（発注一本化）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27648" y="4654296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CCCCDD"/>
                </a:solidFill>
              </a:rPr>
              <a:t>・利用状況をヒアリングし、課題を把握する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CCCCDD"/>
                </a:solidFill>
              </a:rPr>
              <a:t>・発注集約＋コスト削減の提案を持ち込む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CCCCDD"/>
                </a:solidFill>
              </a:rPr>
              <a:t>・利用ガイド作成など、社内展開を支援する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5760720"/>
            <a:ext cx="11384280" cy="36576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5870448"/>
            <a:ext cx="11384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F5A623"/>
                </a:solidFill>
              </a:rPr>
              <a:t>やることは決まった。対象リストも出す。スクリプトも作る。あとは動くだけだ。</a:t>
            </a:r>
          </a:p>
          <a:p>
            <a:pPr algn="ctr">
              <a:spcAft>
                <a:spcPts val="600"/>
              </a:spcAft>
            </a:pPr>
            <a:r>
              <a:rPr sz="1150" b="0">
                <a:solidFill>
                  <a:srgbClr val="F5A623"/>
                </a:solidFill>
              </a:rPr>
              <a:t>下期終了時に「あのとき変わってよかった」と言えるかどうかは、今週の行動で決まる。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